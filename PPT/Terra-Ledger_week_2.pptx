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notesMasterIdLst>
    <p:notesMasterId r:id="rId19"/>
  </p:notesMasterIdLst>
  <p:sldIdLst>
    <p:sldId id="274" r:id="rId2"/>
    <p:sldId id="257" r:id="rId3"/>
    <p:sldId id="259" r:id="rId4"/>
    <p:sldId id="260" r:id="rId5"/>
    <p:sldId id="261" r:id="rId6"/>
    <p:sldId id="262" r:id="rId7"/>
    <p:sldId id="263" r:id="rId8"/>
    <p:sldId id="275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899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EC4EA-3961-4730-AEA5-AC58CE4464D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E9919-A095-43FD-94C7-7BB568C04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72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85668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6102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99955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8440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166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18542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1162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7256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7978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15037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00132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820941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4719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29488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87935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0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1295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16BD0-3B80-C12E-FBEE-490B2042D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557612" y="370373"/>
            <a:ext cx="7253115" cy="2241180"/>
          </a:xfrm>
        </p:spPr>
        <p:txBody>
          <a:bodyPr/>
          <a:lstStyle/>
          <a:p>
            <a:r>
              <a:rPr lang="en-US" b="1" dirty="0"/>
              <a:t>T</a:t>
            </a:r>
            <a:r>
              <a:rPr lang="en-US" b="1" cap="none" dirty="0"/>
              <a:t>erra-</a:t>
            </a:r>
            <a:r>
              <a:rPr lang="en-US" b="1" dirty="0"/>
              <a:t>L</a:t>
            </a:r>
            <a:r>
              <a:rPr lang="en-US" b="1" cap="none" dirty="0"/>
              <a:t>edger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B8600-9FE0-183A-D453-7FA051026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29699" y="2537175"/>
            <a:ext cx="5825202" cy="822674"/>
          </a:xfrm>
        </p:spPr>
        <p:txBody>
          <a:bodyPr/>
          <a:lstStyle/>
          <a:p>
            <a:r>
              <a:rPr lang="en-IN" dirty="0"/>
              <a:t>Week 2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285B4-22E8-7365-C974-5A88BF7A22FB}"/>
              </a:ext>
            </a:extLst>
          </p:cNvPr>
          <p:cNvSpPr txBox="1"/>
          <p:nvPr/>
        </p:nvSpPr>
        <p:spPr>
          <a:xfrm>
            <a:off x="722541" y="98504"/>
            <a:ext cx="6236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CS4306-Core Course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377A51-3A63-9DB3-1CAF-0DD16E98CB42}"/>
              </a:ext>
            </a:extLst>
          </p:cNvPr>
          <p:cNvSpPr txBox="1"/>
          <p:nvPr/>
        </p:nvSpPr>
        <p:spPr>
          <a:xfrm>
            <a:off x="3840886" y="3785326"/>
            <a:ext cx="560070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35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350" dirty="0">
                <a:latin typeface="Cascadia Code" panose="020B0609020000020004" pitchFamily="49" charset="0"/>
                <a:cs typeface="Cascadia Code" panose="020B0609020000020004" pitchFamily="49" charset="0"/>
              </a:rPr>
              <a:t>DAKSHAN KUMAR S  - 24CSO165</a:t>
            </a:r>
          </a:p>
          <a:p>
            <a:r>
              <a:rPr lang="en-IN" sz="1350" dirty="0">
                <a:latin typeface="Cascadia Code" panose="020B0609020000020004" pitchFamily="49" charset="0"/>
                <a:cs typeface="Cascadia Code" panose="020B0609020000020004" pitchFamily="49" charset="0"/>
              </a:rPr>
              <a:t>D Prince Piriyan - 24CS0163</a:t>
            </a:r>
          </a:p>
        </p:txBody>
      </p:sp>
    </p:spTree>
    <p:extLst>
      <p:ext uri="{BB962C8B-B14F-4D97-AF65-F5344CB8AC3E}">
        <p14:creationId xmlns:p14="http://schemas.microsoft.com/office/powerpoint/2010/main" val="2427327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(1/2)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79"/>
            <a:ext cx="6281225" cy="2379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 of Failure: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Centralized land registries vulnerable to hacking, data corruption, and physical loss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Tampering: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Lack of immutable audit trails allows fraudulent record alteration by corrupt actors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Inefficient Dispute Resolution: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3+ years for inheritance litigation in India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unsynced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departments (Revenue, Registration, Cadastral Survey)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and Scope (1/2)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Objectives: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immutable, distributed land registry using blockchain technology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single point of failure through distributed consensus mechanisms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smart contracts for automated inheritance and property mutations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real-time, transparent access to property records across stakeholders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and Scope (2/2)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 Boundaries: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Title records, ownership verification, transaction history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Smart contract automation, identity verification layer, audit trails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Physical boundary surveying (requires separate GIS integration)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litigation from 3+ years to weeks, prevent tampering via cryptography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(1/2)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Implementations &amp; Studies: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(2016+):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100,000+ titles on Bitcoin; Hedera feasibility study (Dec 2025)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Sweden (2016):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Lantmäteriet pilot with smart contracts; €100M savings projected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- Andhra Pradesh: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GPS-integrated blockchain; 50% dispute reduction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UNECE Study (2019):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66% fraud detection rate; 39 jurisdictions analyzed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(2/2)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from Research: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Impact: £340M prevented since 2009 (UK); $446M US wire fraud losses (2022)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immutability reduces tampering risk vs. manual databases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Finland's pending-title system reduced double-selling risk from months to minutes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contracts can automate inheritance, but legal frameworks still evolving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7924800" cy="30175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(Part 1)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" y="163068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 Interface (Buyers, Sellers, Registrars)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1996441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236220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REST/GraphQL APIs, Smart Contract Interfaces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727959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30937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Layer: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Hyperledger Fabric / Ethereum (Consensus, Hashing)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3459482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825241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+ Verification: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Distributed Ledger (Multiple Nodes), Public Blockchain Anchoring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83AF46-747B-F9A6-9487-3CCED4374AEF}"/>
              </a:ext>
            </a:extLst>
          </p:cNvPr>
          <p:cNvSpPr/>
          <p:nvPr/>
        </p:nvSpPr>
        <p:spPr>
          <a:xfrm>
            <a:off x="2975317" y="1109006"/>
            <a:ext cx="1807698" cy="3669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B018FCD-7C21-0551-8AD2-669C1DBB4C1C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879166" y="1475936"/>
            <a:ext cx="0" cy="2672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E617305-F3F8-7692-66DF-DBC72F5E4D86}"/>
              </a:ext>
            </a:extLst>
          </p:cNvPr>
          <p:cNvSpPr/>
          <p:nvPr/>
        </p:nvSpPr>
        <p:spPr>
          <a:xfrm>
            <a:off x="2693963" y="1743223"/>
            <a:ext cx="2370405" cy="53457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REST APIs/ Smart Contracts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0D36A08-F3A3-EA9B-C69B-C8E9E3F4EA8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879166" y="2277795"/>
            <a:ext cx="0" cy="2672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4596032-E09B-B870-7ACC-34BD0934D061}"/>
              </a:ext>
            </a:extLst>
          </p:cNvPr>
          <p:cNvSpPr/>
          <p:nvPr/>
        </p:nvSpPr>
        <p:spPr>
          <a:xfrm>
            <a:off x="2764302" y="2541565"/>
            <a:ext cx="2229728" cy="63773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Hyperledger Fabric / Ethereum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3269F9-8A1D-C04A-5A69-6D53DB7FA43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3879165" y="3179299"/>
            <a:ext cx="1" cy="245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9A89BAB-6C01-A0FE-5CE1-58AD9B9556C6}"/>
              </a:ext>
            </a:extLst>
          </p:cNvPr>
          <p:cNvSpPr/>
          <p:nvPr/>
        </p:nvSpPr>
        <p:spPr>
          <a:xfrm>
            <a:off x="2293035" y="3446586"/>
            <a:ext cx="3172264" cy="89915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Ledger (Multiple Nodes), Public Blockchain Anchoring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433947-7C06-A855-31A6-BA6B76958334}"/>
              </a:ext>
            </a:extLst>
          </p:cNvPr>
          <p:cNvSpPr txBox="1"/>
          <p:nvPr/>
        </p:nvSpPr>
        <p:spPr>
          <a:xfrm>
            <a:off x="889783" y="205100"/>
            <a:ext cx="4575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404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 (1/2)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Hyperledger Fabric+ Ethereum 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Solidity, Chaincode (Go/Node.js)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PBFT (Practical Byzantine Fault Tolerance) for distributed agreement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SHA-256 hashing, RSA-2048 digital signatures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 (2/2)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Node.js/Python APIs, IPFS for document storage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Verification: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PKI (Public Key Infrastructure), Biometric Integration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Mapping: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GIS integration (RTK-GPS for boundary verification)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CouchDB (state database for Hyperledger), off-chain document archive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of the Work (1/2)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682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Model: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Private blockchain (control) + public anchoring (tamper-proof verification)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Inheritance: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Smart contracts execute succession automatically upon death proof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Multi-Stakeholder Access: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Simultaneous verification across all parties (vs. sequential)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of the Work (2/2)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 vs. Existing Systems: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30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Model (Reference):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Hash anchoring only; no smart contracts for inheritance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Innovation: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Adds automated succession logic + real-time boundary data integration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Sweden Model (Reference):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Smart contracts for process transparency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Addition: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Dispute detection + cryptographic tampering prevention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2"/>
            <a:ext cx="7924800" cy="11430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68882"/>
            <a:ext cx="7924800" cy="11430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6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Solves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9507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Tampering, Single point failure, Inheritance delays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736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Requires Integration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0937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surveys, Identity verification, Governance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Prevention: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Cryptographic detection prevents 95%+ tampering vs. 66% current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Reduction: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Inheritance: 3+ years → days; Title transfer: months → weeks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Eliminate probate costs; reduce litigation by 70%+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24/7 property verification; no paper dependency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Implementation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surveying technology (RTK-GPS + GIS for boundary verification)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strong identity verification (notarial/biometric systems)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hybrid public-private blockchain model (like Georgia)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Multi-stakeholder governance (reduce single corruption point)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2"/>
            <a:ext cx="7924800" cy="11430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68882"/>
            <a:ext cx="7924800" cy="11430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Value Proposition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6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Prevention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950718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£340M prevented since 2009 (UK baseline)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736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Reduction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093718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Inheritance: 3+ years → days with smart contracts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23039"/>
            <a:ext cx="792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Blockchain: Bounded but Real Solutions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2748921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data integrity, eliminates single point of failure, automates inheritance — but requires complementary tech for boundaries and identity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734556" y="3533775"/>
            <a:ext cx="367488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Georgia, Sweden, and India leading the way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792</Words>
  <Application>Microsoft Office PowerPoint</Application>
  <PresentationFormat>On-screen Show (16:9)</PresentationFormat>
  <Paragraphs>107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Cascadia Code</vt:lpstr>
      <vt:lpstr>Trebuchet MS</vt:lpstr>
      <vt:lpstr>Wingdings 3</vt:lpstr>
      <vt:lpstr>Facet</vt:lpstr>
      <vt:lpstr>Terra-Ledger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DAKSHAN KUMAR</cp:lastModifiedBy>
  <cp:revision>2</cp:revision>
  <dcterms:created xsi:type="dcterms:W3CDTF">2026-01-01T17:55:32Z</dcterms:created>
  <dcterms:modified xsi:type="dcterms:W3CDTF">2026-01-01T18:26:45Z</dcterms:modified>
</cp:coreProperties>
</file>